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3,900 purchases • 18 columns • Goal: uncover spending patterns, segments, product &amp; subscription insights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077144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741512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189108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Rows &amp;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2150" y="220079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3,900 rows • 18 columns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741512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510858" y="189108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0858" y="220079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Demographics, purchase details, behavior, shipping, discounts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218111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4102150" y="336768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2150" y="367739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37 missing values in Review Rating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8133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Exploratory Data Analysis (Python)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52577" y="1281336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52577" y="1473547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3952577" y="1562844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52577" y="1800820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pandas: df.info(), .describe()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52577" y="2167012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52577" y="2359223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3952577" y="2448520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 &amp; Impute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52577" y="2686496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Imputed Review Rating by category median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52577" y="3052688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52577" y="3244900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3952577" y="3334196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Engineer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52577" y="3572173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age_group, purchase_frequency_days; dropped promo_code_used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52577" y="3938364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52577" y="4130576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8" name="Text 15"/>
          <p:cNvSpPr/>
          <p:nvPr/>
        </p:nvSpPr>
        <p:spPr>
          <a:xfrm>
            <a:off x="3952577" y="4219873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DB Integration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52577" y="4457849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Loaded cleaned DataFrame to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22462"/>
            <a:ext cx="3019723" cy="169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2989" y="1804243"/>
            <a:ext cx="471212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Gender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12989" y="2412504"/>
            <a:ext cx="2281238" cy="908075"/>
          </a:xfrm>
          <a:prstGeom prst="roundRect">
            <a:avLst>
              <a:gd name="adj" fmla="val 247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4062561" y="2562076"/>
            <a:ext cx="19820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Female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2561" y="2931616"/>
            <a:ext cx="198209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$75,191 total revenue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43799" y="2412504"/>
            <a:ext cx="2281312" cy="908075"/>
          </a:xfrm>
          <a:prstGeom prst="roundRect">
            <a:avLst>
              <a:gd name="adj" fmla="val 247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493371" y="2562076"/>
            <a:ext cx="19821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3371" y="2931616"/>
            <a:ext cx="19821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$157,890 total revenue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3474"/>
            <a:ext cx="3442841" cy="1936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36107" y="1299939"/>
            <a:ext cx="4289003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Discounts &amp; High-Spenders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336107" y="2329532"/>
            <a:ext cx="4746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839 rows: customers who used discounts but spent above average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107" y="2737172"/>
            <a:ext cx="451172" cy="4511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74282" y="2737172"/>
            <a:ext cx="14128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74282" y="3106713"/>
            <a:ext cx="141282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customer_id 2 → $64; 3 → $73; 4 → $90 ...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10" y="2737172"/>
            <a:ext cx="451172" cy="4511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12285" y="2737172"/>
            <a:ext cx="14128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Insight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212285" y="3106713"/>
            <a:ext cx="141282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Discount users can still drive above-average spends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5388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Discount-Dependent Products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093119"/>
            <a:ext cx="8096845" cy="1696492"/>
          </a:xfrm>
          <a:prstGeom prst="roundRect">
            <a:avLst>
              <a:gd name="adj" fmla="val 1323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523577" y="2093119"/>
            <a:ext cx="2698924" cy="848246"/>
          </a:xfrm>
          <a:custGeom>
            <a:avLst/>
            <a:gdLst/>
            <a:ahLst/>
            <a:cxnLst/>
            <a:rect l="l" t="t" r="r" b="b"/>
            <a:pathLst>
              <a:path w="2698924" h="848246">
                <a:moveTo>
                  <a:pt x="18702" y="0"/>
                </a:moveTo>
                <a:lnTo>
                  <a:pt x="2698924" y="0"/>
                </a:lnTo>
                <a:lnTo>
                  <a:pt x="2698924" y="848246"/>
                </a:lnTo>
                <a:lnTo>
                  <a:pt x="0" y="848246"/>
                </a:lnTo>
                <a:lnTo>
                  <a:pt x="0" y="18702"/>
                </a:lnTo>
                <a:arcTo hR="18702" wR="18702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673150" y="224269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2552402"/>
            <a:ext cx="23997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50.00% discounted purchases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22501" y="2093119"/>
            <a:ext cx="2698924" cy="848246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8" name="Shape 6"/>
          <p:cNvSpPr/>
          <p:nvPr/>
        </p:nvSpPr>
        <p:spPr>
          <a:xfrm>
            <a:off x="3222501" y="2093119"/>
            <a:ext cx="19050" cy="848246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9" name="Text 7"/>
          <p:cNvSpPr/>
          <p:nvPr/>
        </p:nvSpPr>
        <p:spPr>
          <a:xfrm>
            <a:off x="3372073" y="224269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Sneakers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72073" y="2552402"/>
            <a:ext cx="23997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49.66%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21425" y="2093119"/>
            <a:ext cx="2698924" cy="848246"/>
          </a:xfrm>
          <a:custGeom>
            <a:avLst/>
            <a:gdLst/>
            <a:ahLst/>
            <a:cxnLst/>
            <a:rect l="l" t="t" r="r" b="b"/>
            <a:pathLst>
              <a:path w="2698924" h="848246">
                <a:moveTo>
                  <a:pt x="0" y="0"/>
                </a:moveTo>
                <a:lnTo>
                  <a:pt x="2680222" y="0"/>
                </a:lnTo>
                <a:arcTo hR="18702" wR="18702" stAng="16200000" swAng="5400000"/>
                <a:lnTo>
                  <a:pt x="2698924" y="848246"/>
                </a:lnTo>
                <a:lnTo>
                  <a:pt x="0" y="848246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1425" y="2093119"/>
            <a:ext cx="19050" cy="848246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13" name="Text 11"/>
          <p:cNvSpPr/>
          <p:nvPr/>
        </p:nvSpPr>
        <p:spPr>
          <a:xfrm>
            <a:off x="6070997" y="224269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0997" y="2552402"/>
            <a:ext cx="23997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49.07%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577" y="2941365"/>
            <a:ext cx="4048348" cy="848246"/>
          </a:xfrm>
          <a:custGeom>
            <a:avLst/>
            <a:gdLst/>
            <a:ahLst/>
            <a:cxnLst/>
            <a:rect l="l" t="t" r="r" b="b"/>
            <a:pathLst>
              <a:path w="4048348" h="848246">
                <a:moveTo>
                  <a:pt x="0" y="0"/>
                </a:moveTo>
                <a:lnTo>
                  <a:pt x="4048348" y="0"/>
                </a:lnTo>
                <a:lnTo>
                  <a:pt x="4048348" y="848246"/>
                </a:lnTo>
                <a:lnTo>
                  <a:pt x="18702" y="848246"/>
                </a:lnTo>
                <a:arcTo hR="18702" wR="18702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577" y="2941365"/>
            <a:ext cx="4048348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17" name="Text 15"/>
          <p:cNvSpPr/>
          <p:nvPr/>
        </p:nvSpPr>
        <p:spPr>
          <a:xfrm>
            <a:off x="673150" y="3090937"/>
            <a:ext cx="374920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Sweater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3150" y="3400648"/>
            <a:ext cx="374920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48.17%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1926" y="2941365"/>
            <a:ext cx="4048423" cy="848246"/>
          </a:xfrm>
          <a:custGeom>
            <a:avLst/>
            <a:gdLst/>
            <a:ahLst/>
            <a:cxnLst/>
            <a:rect l="l" t="t" r="r" b="b"/>
            <a:pathLst>
              <a:path w="4048423" h="848246">
                <a:moveTo>
                  <a:pt x="0" y="0"/>
                </a:moveTo>
                <a:lnTo>
                  <a:pt x="4048423" y="0"/>
                </a:lnTo>
                <a:lnTo>
                  <a:pt x="4048423" y="829544"/>
                </a:lnTo>
                <a:arcTo hR="18702" wR="18702" stAng="0" swAng="5400000"/>
                <a:lnTo>
                  <a:pt x="0" y="848246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1926" y="2941365"/>
            <a:ext cx="19050" cy="848246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1926" y="2941365"/>
            <a:ext cx="4048423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22" name="Text 20"/>
          <p:cNvSpPr/>
          <p:nvPr/>
        </p:nvSpPr>
        <p:spPr>
          <a:xfrm>
            <a:off x="4721498" y="3090937"/>
            <a:ext cx="374927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21498" y="3400648"/>
            <a:ext cx="374927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47.37%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64344"/>
            <a:ext cx="3865959" cy="27827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9226" y="1045666"/>
            <a:ext cx="386595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Categories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9226" y="1653927"/>
            <a:ext cx="374005" cy="3740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20233" y="1653927"/>
            <a:ext cx="330495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320233" y="2023467"/>
            <a:ext cx="33049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Highest revenue &amp; sales (1,800 orders)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9226" y="2562076"/>
            <a:ext cx="374005" cy="3740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20233" y="2562076"/>
            <a:ext cx="330495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320233" y="2931616"/>
            <a:ext cx="33049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 performer (Jewelry, Sunglasses, Belt)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9226" y="3470225"/>
            <a:ext cx="374005" cy="3740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20233" y="3470225"/>
            <a:ext cx="330495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320233" y="3839766"/>
            <a:ext cx="33049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Sandals, Shoes, Sneakers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657002"/>
            <a:ext cx="3897288" cy="28052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7897" y="644128"/>
            <a:ext cx="3897288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Age Group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727897" y="1111076"/>
            <a:ext cx="43544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marketing on Young Adult &amp; Middle-aged groups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97" y="1407691"/>
            <a:ext cx="3897288" cy="28052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27897" y="4328368"/>
            <a:ext cx="43544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Segmentation: Loyal (majority), Returning, New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99864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 Dashboard Highlights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804243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09724" y="1855663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09724" y="2165375"/>
            <a:ext cx="418169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3.9K customers • Avg purchase $59.76 • Avg rating 3.75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3577" y="2703984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09724" y="2755404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Subscription Split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9724" y="3065115"/>
            <a:ext cx="418169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27% Yes • 73% No (donut)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603724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09724" y="3655144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Sales &amp; Revenue Charts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9724" y="3964856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Clothing leads revenue &amp; sales; visualize age &amp; shipping breakdowns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832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247552"/>
            <a:ext cx="2599209" cy="1345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400" y="1416174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8400" y="1725885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Promote exclusive subscriber benefits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358" y="1247552"/>
            <a:ext cx="2599209" cy="13457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17181" y="1416174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17181" y="1725885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Reward repeat buyers to grow Loyal segment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1139" y="1247552"/>
            <a:ext cx="2599283" cy="13457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5962" y="1416174"/>
            <a:ext cx="218583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5962" y="1945853"/>
            <a:ext cx="21858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Balance sales lift with margin protection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2742828"/>
            <a:ext cx="2599209" cy="11257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400" y="2911450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68400" y="3221162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 top-rated &amp; best-selling items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358" y="2742828"/>
            <a:ext cx="2599209" cy="11257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517181" y="2911450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517181" y="3221162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523577" y="4036814"/>
            <a:ext cx="8096845" cy="598289"/>
          </a:xfrm>
          <a:prstGeom prst="roundRect">
            <a:avLst>
              <a:gd name="adj" fmla="val 3751"/>
            </a:avLst>
          </a:prstGeom>
          <a:solidFill>
            <a:srgbClr val="08786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50" y="4254773"/>
            <a:ext cx="187003" cy="1495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9724" y="4223742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steps: operationalize recommendations via targeted campaigns and pricing experiments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2026-08-15T12:29:22Z</dcterms:created>
  <dcterms:modified xsi:type="dcterms:W3CDTF">2026-08-15T12:29:22Z</dcterms:modified>
</cp:coreProperties>
</file>